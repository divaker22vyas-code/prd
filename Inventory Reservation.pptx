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91" r:id="rId2"/>
    <p:sldId id="292" r:id="rId3"/>
    <p:sldId id="293" r:id="rId4"/>
    <p:sldId id="367" r:id="rId5"/>
    <p:sldId id="368" r:id="rId6"/>
    <p:sldId id="369" r:id="rId7"/>
    <p:sldId id="361" r:id="rId8"/>
    <p:sldId id="370" r:id="rId9"/>
    <p:sldId id="3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4D61B9-E49C-44DC-9101-15450E1DC93D}" type="datetimeFigureOut">
              <a:rPr lang="en-US" smtClean="0"/>
              <a:t>3/27/2020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FD46C-3E67-42E2-B301-48A5468F2E9D}" type="slidenum">
              <a:rPr lang="en-US" smtClean="0"/>
              <a:t>‹#›</a:t>
            </a:fld>
            <a:endParaRPr lang="en-US"/>
          </a:p>
        </p:txBody>
      </p:sp>
    </p:spTree>
    <p:extLst>
      <p:ext uri="{BB962C8B-B14F-4D97-AF65-F5344CB8AC3E}">
        <p14:creationId xmlns:p14="http://schemas.microsoft.com/office/powerpoint/2010/main" val="2877586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3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7" name="Google Shape;69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9554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8508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3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6099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p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3" name="Google Shape;1563;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p10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3" name="Google Shape;1563;p10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4812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0F7E-C02D-4277-A7D7-0F0194055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54B0D7-5E0A-4BE1-ACFA-AE0D65F8BF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5BA9F1-AD76-4EDC-8844-7365D140E52D}"/>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8662F83B-AA41-4055-8E28-A7B9E7CE48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5BA550-3382-40AD-9B36-78DA9F6CB610}"/>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955521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F43BC-52CE-4493-8763-3E1F578CB1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4E724F-1331-4438-A93E-7399BA6072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E804C-2EB5-4C06-B270-F2A0DD360B2F}"/>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7A850DB8-9D3A-4D5B-A1D0-84CEDF1CB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8D5784-4CEF-47DD-87DF-16D78BC4BAEB}"/>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1653268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C85F-E70C-451A-A3F2-3F4370F0B5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A29D5C-3189-4015-9278-7DBB672D1B2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BD7E2C-C980-4716-B4D7-337AB06C6C4C}"/>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80785608-1AAD-4B74-AB00-C18339894E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C7D50E-861E-456C-A582-79C85C3C0F11}"/>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3389894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A0C82-4E10-4213-BBF0-10DAF6C1AA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E95403-68B5-4A9D-9B5B-8EFBBEF5C6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F5703B-499C-47BC-A86F-8C8D862B6F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7C5D55-3187-4AD0-97B1-C2544F208EA3}"/>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6" name="Footer Placeholder 5">
            <a:extLst>
              <a:ext uri="{FF2B5EF4-FFF2-40B4-BE49-F238E27FC236}">
                <a16:creationId xmlns:a16="http://schemas.microsoft.com/office/drawing/2014/main" id="{6929881C-328B-48A9-8AD4-6B01163E39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F127E5-1248-4BFD-A5BD-B867554D55FC}"/>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39904919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D573-87D6-4FE8-B5B3-E1C9EB9162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AB0685-53D0-44A2-BCD2-78993E500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4269D2-D192-45D9-B81C-2A5ACD4A42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997713-EA2E-41A9-9E79-5F83092977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1076FD-18C1-4179-90AD-45A6B1D1EB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53E454-F132-46B0-90D2-95E10B943E00}"/>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8" name="Footer Placeholder 7">
            <a:extLst>
              <a:ext uri="{FF2B5EF4-FFF2-40B4-BE49-F238E27FC236}">
                <a16:creationId xmlns:a16="http://schemas.microsoft.com/office/drawing/2014/main" id="{6C0AE39D-BBF5-445D-921D-C8D373CBF1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130287-F734-4BFB-A9D1-D5FE9D80569A}"/>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1089935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1907B-7994-41D4-8AC4-92B8275F9D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90514F-382F-4DA6-8997-4B5F017DC32B}"/>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4" name="Footer Placeholder 3">
            <a:extLst>
              <a:ext uri="{FF2B5EF4-FFF2-40B4-BE49-F238E27FC236}">
                <a16:creationId xmlns:a16="http://schemas.microsoft.com/office/drawing/2014/main" id="{B4643DBF-AA46-4955-BE02-B8EA2E65B1B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90D316-E28D-4374-B61E-9D876D9BC116}"/>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3362257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63159-A546-459A-9C6D-085AF0E65DF9}"/>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3" name="Footer Placeholder 2">
            <a:extLst>
              <a:ext uri="{FF2B5EF4-FFF2-40B4-BE49-F238E27FC236}">
                <a16:creationId xmlns:a16="http://schemas.microsoft.com/office/drawing/2014/main" id="{759B4331-79D8-40D9-81B1-6B1708BA09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42E2F8-BCF2-442D-9FDE-1FD8A7BFEBB6}"/>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346536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7EAE-7563-426D-9E7E-F64EBCEF99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FABF90-67B7-4506-9D4B-398BA7F3E7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83E880-245D-424C-83E7-0B799D92A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7E80B9-0A07-488C-83A0-BF52AC1AC689}"/>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6" name="Footer Placeholder 5">
            <a:extLst>
              <a:ext uri="{FF2B5EF4-FFF2-40B4-BE49-F238E27FC236}">
                <a16:creationId xmlns:a16="http://schemas.microsoft.com/office/drawing/2014/main" id="{408F0756-4D97-42D0-ABB5-CA71E92076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816AD-1986-4A30-943D-F9FC3D7FCBFD}"/>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3802976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41C8-2C4A-49AF-89C9-15F4D13F8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4CD7044-1F90-4482-AA25-0C60D3C00C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EFD0D2-F56C-4ECC-86D6-15864682E9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8E27A1-2AC3-45F2-B854-2B6D61720BA1}"/>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6" name="Footer Placeholder 5">
            <a:extLst>
              <a:ext uri="{FF2B5EF4-FFF2-40B4-BE49-F238E27FC236}">
                <a16:creationId xmlns:a16="http://schemas.microsoft.com/office/drawing/2014/main" id="{11D57856-58A2-42DE-A07E-C3068E44BC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6B6448-BDF5-4EA8-B172-85ACAA7873AE}"/>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1391747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C5E5-C04B-42D5-8FAA-34E13643E6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26E47C1-08DF-43A3-A8EE-C782E1C851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0DC191-450B-4085-AC4A-A8754EDE4123}"/>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1C236CA3-F254-4D6A-950A-337621EFE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D8129E-F929-4C87-A7A4-38E183D99874}"/>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56269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8164DC-01AA-4C28-A595-A7BDD190130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54DFE2-E675-4FDC-8891-ED8662E3A1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90990C-0FB0-44B6-B2CF-74A8D15054B1}"/>
              </a:ext>
            </a:extLst>
          </p:cNvPr>
          <p:cNvSpPr>
            <a:spLocks noGrp="1"/>
          </p:cNvSpPr>
          <p:nvPr>
            <p:ph type="dt" sz="half" idx="10"/>
          </p:nvPr>
        </p:nvSpPr>
        <p:spPr/>
        <p:txBody>
          <a:body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C8425E6B-5B2C-4AB9-A68D-BFE0BDAD50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ECF898-D6B8-4BB7-9E5A-9ED66C1CBC5A}"/>
              </a:ext>
            </a:extLst>
          </p:cNvPr>
          <p:cNvSpPr>
            <a:spLocks noGrp="1"/>
          </p:cNvSpPr>
          <p:nvPr>
            <p:ph type="sldNum" sz="quarter" idx="12"/>
          </p:nvPr>
        </p:nvSpPr>
        <p:spPr/>
        <p:txBody>
          <a:bodyPr/>
          <a:lstStyle/>
          <a:p>
            <a:fld id="{DBF29BA9-4181-47F4-9FC6-4B0ED6488276}" type="slidenum">
              <a:rPr lang="en-US" smtClean="0"/>
              <a:t>‹#›</a:t>
            </a:fld>
            <a:endParaRPr lang="en-US"/>
          </a:p>
        </p:txBody>
      </p:sp>
    </p:spTree>
    <p:extLst>
      <p:ext uri="{BB962C8B-B14F-4D97-AF65-F5344CB8AC3E}">
        <p14:creationId xmlns:p14="http://schemas.microsoft.com/office/powerpoint/2010/main" val="494550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a:stretch/>
        </p:blipFill>
        <p:spPr>
          <a:xfrm>
            <a:off x="10662719" y="6209468"/>
            <a:ext cx="1471225" cy="604990"/>
          </a:xfrm>
          <a:prstGeom prst="rect">
            <a:avLst/>
          </a:prstGeom>
          <a:noFill/>
          <a:ln>
            <a:noFill/>
          </a:ln>
        </p:spPr>
      </p:pic>
    </p:spTree>
    <p:extLst>
      <p:ext uri="{BB962C8B-B14F-4D97-AF65-F5344CB8AC3E}">
        <p14:creationId xmlns:p14="http://schemas.microsoft.com/office/powerpoint/2010/main" val="2317655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1F3687-B5C6-44C4-A135-6B299F83AD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0BDEFB4-ABDC-4E3B-9915-46B911B11C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CDA321-BAF5-4B3E-BCE9-18F3EAB0EB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8FEDBE-5E67-48E7-A184-FDC3CCCCD7CC}" type="datetimeFigureOut">
              <a:rPr lang="en-US" smtClean="0"/>
              <a:t>3/27/2020</a:t>
            </a:fld>
            <a:endParaRPr lang="en-US"/>
          </a:p>
        </p:txBody>
      </p:sp>
      <p:sp>
        <p:nvSpPr>
          <p:cNvPr id="5" name="Footer Placeholder 4">
            <a:extLst>
              <a:ext uri="{FF2B5EF4-FFF2-40B4-BE49-F238E27FC236}">
                <a16:creationId xmlns:a16="http://schemas.microsoft.com/office/drawing/2014/main" id="{0CF7E172-91F5-46CA-B37D-FC19201C4C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A698AB6-D9C3-4785-A998-A6D209D35D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F29BA9-4181-47F4-9FC6-4B0ED6488276}" type="slidenum">
              <a:rPr lang="en-US" smtClean="0"/>
              <a:t>‹#›</a:t>
            </a:fld>
            <a:endParaRPr lang="en-US"/>
          </a:p>
        </p:txBody>
      </p:sp>
    </p:spTree>
    <p:extLst>
      <p:ext uri="{BB962C8B-B14F-4D97-AF65-F5344CB8AC3E}">
        <p14:creationId xmlns:p14="http://schemas.microsoft.com/office/powerpoint/2010/main" val="1032387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DELL\AppData\Local\Temp\ppt design cover-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744" y="953052"/>
            <a:ext cx="5599987" cy="562702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768075" y="0"/>
            <a:ext cx="5078182" cy="6858000"/>
          </a:xfrm>
          <a:prstGeom prst="rect">
            <a:avLst/>
          </a:prstGeom>
          <a:solidFill>
            <a:srgbClr val="19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t>Inventory Reservation</a:t>
            </a:r>
            <a:endParaRPr lang="en-US" sz="4000" i="1" dirty="0">
              <a:solidFill>
                <a:prstClr val="white"/>
              </a:solidFill>
              <a:latin typeface="Calibri Light"/>
              <a:cs typeface="Arial" pitchFamily="34" charset="0"/>
            </a:endParaRPr>
          </a:p>
        </p:txBody>
      </p:sp>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018" y="373394"/>
            <a:ext cx="1926750" cy="628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0709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41"/>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700" name="Google Shape;700;p41"/>
          <p:cNvSpPr txBox="1"/>
          <p:nvPr/>
        </p:nvSpPr>
        <p:spPr>
          <a:xfrm>
            <a:off x="167680" y="372486"/>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Executive Summary</a:t>
            </a:r>
            <a:endParaRPr sz="2800" b="1" dirty="0">
              <a:solidFill>
                <a:srgbClr val="595959"/>
              </a:solidFill>
              <a:latin typeface="Arial"/>
              <a:ea typeface="Arial"/>
              <a:cs typeface="Arial"/>
              <a:sym typeface="Arial"/>
            </a:endParaRPr>
          </a:p>
        </p:txBody>
      </p:sp>
      <p:sp>
        <p:nvSpPr>
          <p:cNvPr id="701" name="Google Shape;701;p41"/>
          <p:cNvSpPr txBox="1"/>
          <p:nvPr/>
        </p:nvSpPr>
        <p:spPr>
          <a:xfrm>
            <a:off x="378542" y="985992"/>
            <a:ext cx="11046900" cy="4524300"/>
          </a:xfrm>
          <a:prstGeom prst="rect">
            <a:avLst/>
          </a:prstGeom>
          <a:noFill/>
          <a:ln>
            <a:noFill/>
          </a:ln>
        </p:spPr>
        <p:txBody>
          <a:bodyPr spcFirstLastPara="1" wrap="square" lIns="91425" tIns="45700" rIns="91425" bIns="45700" anchor="t" anchorCtr="0">
            <a:noAutofit/>
          </a:bodyPr>
          <a:lstStyle/>
          <a:p>
            <a:pPr marL="285750" lvl="0" indent="-285750">
              <a:buClr>
                <a:schemeClr val="dk1"/>
              </a:buClr>
              <a:buSzPts val="1800"/>
              <a:buFont typeface="Noto Sans Symbols"/>
              <a:buChar char="❑"/>
            </a:pPr>
            <a:r>
              <a:rPr lang="en-US" dirty="0"/>
              <a:t>User can automatically reserve inventory against a channel or a store or B2B customer or Customer group from the available inventory.</a:t>
            </a:r>
          </a:p>
          <a:p>
            <a:pPr marL="285750" lvl="0" indent="-285750">
              <a:buClr>
                <a:schemeClr val="dk1"/>
              </a:buClr>
              <a:buSzPts val="1800"/>
              <a:buFont typeface="Noto Sans Symbols"/>
              <a:buChar char="❑"/>
            </a:pPr>
            <a:endParaRPr lang="en-US" dirty="0"/>
          </a:p>
          <a:p>
            <a:pPr marL="285750" lvl="0" indent="-285750">
              <a:buClr>
                <a:schemeClr val="dk1"/>
              </a:buClr>
              <a:buSzPts val="1800"/>
              <a:buFont typeface="Noto Sans Symbols"/>
              <a:buChar char="❑"/>
            </a:pPr>
            <a:r>
              <a:rPr lang="en-US" dirty="0"/>
              <a:t>This functionality would empower user to block inventory against a party for a priority scenario from centralized inventory.</a:t>
            </a:r>
            <a:endParaRPr lang="en-IN" dirty="0"/>
          </a:p>
          <a:p>
            <a:pPr marL="285750" lvl="0" indent="-285750">
              <a:buClr>
                <a:schemeClr val="dk1"/>
              </a:buClr>
              <a:buSzPts val="1800"/>
              <a:buFont typeface="Noto Sans Symbols"/>
              <a:buChar char="❑"/>
            </a:pPr>
            <a:endParaRPr lang="en-IN" dirty="0"/>
          </a:p>
          <a:p>
            <a:pPr marL="285750" lvl="0" indent="-285750">
              <a:buClr>
                <a:schemeClr val="dk1"/>
              </a:buClr>
              <a:buSzPts val="1800"/>
              <a:buFont typeface="Noto Sans Symbols"/>
              <a:buChar char="❑"/>
            </a:pPr>
            <a:r>
              <a:rPr lang="en-US" dirty="0"/>
              <a:t>Reasons for reserving inventory:</a:t>
            </a:r>
            <a:endParaRPr lang="en-IN" dirty="0"/>
          </a:p>
          <a:p>
            <a:r>
              <a:rPr lang="en-US" dirty="0"/>
              <a:t> </a:t>
            </a:r>
            <a:endParaRPr lang="en-IN" dirty="0"/>
          </a:p>
          <a:p>
            <a:pPr marL="285750" lvl="0" indent="-285750">
              <a:buFont typeface="Arial" panose="020B0604020202020204" pitchFamily="34" charset="0"/>
              <a:buChar char="•"/>
            </a:pPr>
            <a:r>
              <a:rPr lang="en-US" dirty="0"/>
              <a:t>Avoiding missing out priority orders due to inventory stock out</a:t>
            </a:r>
            <a:endParaRPr lang="en-IN" dirty="0"/>
          </a:p>
          <a:p>
            <a:pPr marL="285750" lvl="0" indent="-285750">
              <a:buFont typeface="Arial" panose="020B0604020202020204" pitchFamily="34" charset="0"/>
              <a:buChar char="•"/>
            </a:pPr>
            <a:r>
              <a:rPr lang="en-US" dirty="0"/>
              <a:t>Segregating inventory channel wise based on market demand</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2"/>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708" name="Google Shape;708;p42"/>
          <p:cNvSpPr txBox="1"/>
          <p:nvPr/>
        </p:nvSpPr>
        <p:spPr>
          <a:xfrm>
            <a:off x="167680" y="372486"/>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Inventory Reservation enquiry screen</a:t>
            </a:r>
            <a:endParaRPr sz="2800" b="1" dirty="0">
              <a:solidFill>
                <a:srgbClr val="595959"/>
              </a:solidFill>
              <a:latin typeface="Arial"/>
              <a:ea typeface="Arial"/>
              <a:cs typeface="Arial"/>
              <a:sym typeface="Arial"/>
            </a:endParaRPr>
          </a:p>
        </p:txBody>
      </p:sp>
      <p:pic>
        <p:nvPicPr>
          <p:cNvPr id="5" name="Picture 4">
            <a:extLst>
              <a:ext uri="{FF2B5EF4-FFF2-40B4-BE49-F238E27FC236}">
                <a16:creationId xmlns:a16="http://schemas.microsoft.com/office/drawing/2014/main" id="{0C263BFA-AA23-4CFE-9EC1-F7397CCF0E3E}"/>
              </a:ext>
            </a:extLst>
          </p:cNvPr>
          <p:cNvPicPr/>
          <p:nvPr/>
        </p:nvPicPr>
        <p:blipFill>
          <a:blip r:embed="rId3"/>
          <a:stretch>
            <a:fillRect/>
          </a:stretch>
        </p:blipFill>
        <p:spPr>
          <a:xfrm>
            <a:off x="785192" y="1454081"/>
            <a:ext cx="11214550" cy="48060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2"/>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708" name="Google Shape;708;p42"/>
          <p:cNvSpPr txBox="1"/>
          <p:nvPr/>
        </p:nvSpPr>
        <p:spPr>
          <a:xfrm>
            <a:off x="167680" y="372486"/>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Inventory Reservation create / edit</a:t>
            </a:r>
            <a:endParaRPr lang="en-US" sz="2800" b="1" dirty="0">
              <a:solidFill>
                <a:srgbClr val="595959"/>
              </a:solidFill>
              <a:latin typeface="Arial"/>
              <a:ea typeface="Arial"/>
              <a:cs typeface="Arial"/>
              <a:sym typeface="Arial"/>
            </a:endParaRPr>
          </a:p>
        </p:txBody>
      </p:sp>
      <p:pic>
        <p:nvPicPr>
          <p:cNvPr id="6" name="Picture 5">
            <a:extLst>
              <a:ext uri="{FF2B5EF4-FFF2-40B4-BE49-F238E27FC236}">
                <a16:creationId xmlns:a16="http://schemas.microsoft.com/office/drawing/2014/main" id="{8D67BC7A-ED10-4300-BAFB-43B02D46DB14}"/>
              </a:ext>
            </a:extLst>
          </p:cNvPr>
          <p:cNvPicPr/>
          <p:nvPr/>
        </p:nvPicPr>
        <p:blipFill>
          <a:blip r:embed="rId3"/>
          <a:stretch>
            <a:fillRect/>
          </a:stretch>
        </p:blipFill>
        <p:spPr>
          <a:xfrm>
            <a:off x="570914" y="1149667"/>
            <a:ext cx="10880188" cy="4969779"/>
          </a:xfrm>
          <a:prstGeom prst="rect">
            <a:avLst/>
          </a:prstGeom>
        </p:spPr>
      </p:pic>
    </p:spTree>
    <p:extLst>
      <p:ext uri="{BB962C8B-B14F-4D97-AF65-F5344CB8AC3E}">
        <p14:creationId xmlns:p14="http://schemas.microsoft.com/office/powerpoint/2010/main" val="559447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2"/>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708" name="Google Shape;708;p42"/>
          <p:cNvSpPr txBox="1"/>
          <p:nvPr/>
        </p:nvSpPr>
        <p:spPr>
          <a:xfrm>
            <a:off x="167680" y="372486"/>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Reserved Inventory Snapshot</a:t>
            </a:r>
            <a:endParaRPr lang="en-US" sz="2800" b="1" dirty="0">
              <a:solidFill>
                <a:srgbClr val="595959"/>
              </a:solidFill>
              <a:latin typeface="Arial"/>
              <a:ea typeface="Arial"/>
              <a:cs typeface="Arial"/>
              <a:sym typeface="Arial"/>
            </a:endParaRPr>
          </a:p>
        </p:txBody>
      </p:sp>
      <p:sp>
        <p:nvSpPr>
          <p:cNvPr id="2" name="Rectangle 1">
            <a:extLst>
              <a:ext uri="{FF2B5EF4-FFF2-40B4-BE49-F238E27FC236}">
                <a16:creationId xmlns:a16="http://schemas.microsoft.com/office/drawing/2014/main" id="{26B7A9ED-6634-4DBB-A181-CF726703DCC9}"/>
              </a:ext>
            </a:extLst>
          </p:cNvPr>
          <p:cNvSpPr/>
          <p:nvPr/>
        </p:nvSpPr>
        <p:spPr>
          <a:xfrm>
            <a:off x="167680" y="1028648"/>
            <a:ext cx="11424098" cy="923330"/>
          </a:xfrm>
          <a:prstGeom prst="rect">
            <a:avLst/>
          </a:prstGeom>
        </p:spPr>
        <p:txBody>
          <a:bodyPr wrap="square">
            <a:spAutoFit/>
          </a:bodyPr>
          <a:lstStyle/>
          <a:p>
            <a:pPr marL="457200">
              <a:spcAft>
                <a:spcPts val="0"/>
              </a:spcAft>
            </a:pPr>
            <a:r>
              <a:rPr lang="en-US" dirty="0">
                <a:latin typeface="Arial" panose="020B0604020202020204" pitchFamily="34" charset="0"/>
                <a:ea typeface="Times New Roman" panose="02020603050405020304" pitchFamily="18" charset="0"/>
              </a:rPr>
              <a:t>This screen shows final reserved quantity with respect to each </a:t>
            </a:r>
            <a:r>
              <a:rPr lang="en-US" dirty="0" err="1">
                <a:latin typeface="Arial" panose="020B0604020202020204" pitchFamily="34" charset="0"/>
                <a:ea typeface="Times New Roman" panose="02020603050405020304" pitchFamily="18" charset="0"/>
              </a:rPr>
              <a:t>sku</a:t>
            </a:r>
            <a:r>
              <a:rPr lang="en-US" dirty="0">
                <a:latin typeface="Arial" panose="020B0604020202020204" pitchFamily="34" charset="0"/>
                <a:ea typeface="Times New Roman" panose="02020603050405020304" pitchFamily="18" charset="0"/>
              </a:rPr>
              <a:t> in the IR key only for active </a:t>
            </a:r>
            <a:r>
              <a:rPr lang="en-US" dirty="0" err="1">
                <a:latin typeface="Arial" panose="020B0604020202020204" pitchFamily="34" charset="0"/>
                <a:ea typeface="Times New Roman" panose="02020603050405020304" pitchFamily="18" charset="0"/>
              </a:rPr>
              <a:t>skus</a:t>
            </a:r>
            <a:r>
              <a:rPr lang="en-US" dirty="0">
                <a:latin typeface="Arial" panose="020B0604020202020204" pitchFamily="34" charset="0"/>
                <a:ea typeface="Times New Roman" panose="02020603050405020304" pitchFamily="18" charset="0"/>
              </a:rPr>
              <a:t>. So here user can edit the reserved quantity if needed and which should get update in DB. Only ‘Available Reserved Quantity’ column is editable.</a:t>
            </a:r>
            <a:endParaRPr lang="en-IN" dirty="0">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D6CE1C54-EE51-4F84-B123-0E110A9AEF75}"/>
              </a:ext>
            </a:extLst>
          </p:cNvPr>
          <p:cNvPicPr/>
          <p:nvPr/>
        </p:nvPicPr>
        <p:blipFill>
          <a:blip r:embed="rId3"/>
          <a:stretch>
            <a:fillRect/>
          </a:stretch>
        </p:blipFill>
        <p:spPr>
          <a:xfrm>
            <a:off x="849482" y="2169808"/>
            <a:ext cx="10742295" cy="3935570"/>
          </a:xfrm>
          <a:prstGeom prst="rect">
            <a:avLst/>
          </a:prstGeom>
        </p:spPr>
      </p:pic>
    </p:spTree>
    <p:extLst>
      <p:ext uri="{BB962C8B-B14F-4D97-AF65-F5344CB8AC3E}">
        <p14:creationId xmlns:p14="http://schemas.microsoft.com/office/powerpoint/2010/main" val="2649161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42"/>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708" name="Google Shape;708;p42"/>
          <p:cNvSpPr txBox="1"/>
          <p:nvPr/>
        </p:nvSpPr>
        <p:spPr>
          <a:xfrm>
            <a:off x="167680" y="372486"/>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Change in Inventory View screen</a:t>
            </a:r>
            <a:endParaRPr lang="en-US" sz="2800" b="1" dirty="0">
              <a:solidFill>
                <a:srgbClr val="595959"/>
              </a:solidFill>
              <a:latin typeface="Arial"/>
              <a:ea typeface="Arial"/>
              <a:cs typeface="Arial"/>
              <a:sym typeface="Arial"/>
            </a:endParaRPr>
          </a:p>
        </p:txBody>
      </p:sp>
      <p:sp>
        <p:nvSpPr>
          <p:cNvPr id="3" name="Rectangle 2">
            <a:extLst>
              <a:ext uri="{FF2B5EF4-FFF2-40B4-BE49-F238E27FC236}">
                <a16:creationId xmlns:a16="http://schemas.microsoft.com/office/drawing/2014/main" id="{57301AB1-C122-44CF-8180-C0161A60F97D}"/>
              </a:ext>
            </a:extLst>
          </p:cNvPr>
          <p:cNvSpPr/>
          <p:nvPr/>
        </p:nvSpPr>
        <p:spPr>
          <a:xfrm>
            <a:off x="633046" y="1280160"/>
            <a:ext cx="10156874" cy="1754326"/>
          </a:xfrm>
          <a:prstGeom prst="rect">
            <a:avLst/>
          </a:prstGeom>
        </p:spPr>
        <p:txBody>
          <a:bodyPr wrap="square">
            <a:spAutoFit/>
          </a:bodyPr>
          <a:lstStyle/>
          <a:p>
            <a:pPr marL="342900" lvl="0" indent="-342900">
              <a:spcAft>
                <a:spcPts val="0"/>
              </a:spcAft>
              <a:buFont typeface="Arial" panose="020B0604020202020204" pitchFamily="34" charset="0"/>
              <a:buChar char="-"/>
            </a:pPr>
            <a:r>
              <a:rPr lang="en-US" dirty="0">
                <a:latin typeface="Arial" panose="020B0604020202020204" pitchFamily="34" charset="0"/>
                <a:ea typeface="Times New Roman" panose="02020603050405020304" pitchFamily="18" charset="0"/>
              </a:rPr>
              <a:t>A new column ‘Reserved Inventory’ need to be added showing total reserved quantity against a </a:t>
            </a:r>
            <a:r>
              <a:rPr lang="en-US" dirty="0" err="1">
                <a:latin typeface="Arial" panose="020B0604020202020204" pitchFamily="34" charset="0"/>
                <a:ea typeface="Times New Roman" panose="02020603050405020304" pitchFamily="18" charset="0"/>
              </a:rPr>
              <a:t>sku</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Arial" panose="020B0604020202020204" pitchFamily="34" charset="0"/>
              <a:buChar char="-"/>
            </a:pPr>
            <a:r>
              <a:rPr lang="en-US" dirty="0">
                <a:latin typeface="Arial" panose="020B0604020202020204" pitchFamily="34" charset="0"/>
                <a:ea typeface="Times New Roman" panose="02020603050405020304" pitchFamily="18" charset="0"/>
              </a:rPr>
              <a:t>The quantity value should be like a hyperlink, on clicking which would give a pop-out box with reserved inventory against ‘IR Key’</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Arial" panose="020B0604020202020204" pitchFamily="34" charset="0"/>
              <a:buChar char="-"/>
            </a:pPr>
            <a:r>
              <a:rPr lang="en-US" dirty="0">
                <a:latin typeface="Arial" panose="020B0604020202020204" pitchFamily="34" charset="0"/>
                <a:ea typeface="Times New Roman" panose="02020603050405020304" pitchFamily="18" charset="0"/>
              </a:rPr>
              <a:t>Inventory view export also would be updated with necessary changes like addition of Reserved Inventory column.</a:t>
            </a:r>
            <a:endParaRPr lang="en-IN" dirty="0">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3B64F627-9CE3-4849-B90E-B48EF4264514}"/>
              </a:ext>
            </a:extLst>
          </p:cNvPr>
          <p:cNvPicPr>
            <a:picLocks noChangeAspect="1"/>
          </p:cNvPicPr>
          <p:nvPr/>
        </p:nvPicPr>
        <p:blipFill>
          <a:blip r:embed="rId3"/>
          <a:stretch>
            <a:fillRect/>
          </a:stretch>
        </p:blipFill>
        <p:spPr>
          <a:xfrm>
            <a:off x="633046" y="3429000"/>
            <a:ext cx="10522635" cy="3097522"/>
          </a:xfrm>
          <a:prstGeom prst="rect">
            <a:avLst/>
          </a:prstGeom>
        </p:spPr>
      </p:pic>
    </p:spTree>
    <p:extLst>
      <p:ext uri="{BB962C8B-B14F-4D97-AF65-F5344CB8AC3E}">
        <p14:creationId xmlns:p14="http://schemas.microsoft.com/office/powerpoint/2010/main" val="1781023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111"/>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1566" name="Google Shape;1566;p111"/>
          <p:cNvSpPr txBox="1"/>
          <p:nvPr/>
        </p:nvSpPr>
        <p:spPr>
          <a:xfrm>
            <a:off x="167680" y="358418"/>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User Journey</a:t>
            </a:r>
            <a:endParaRPr sz="2800" b="1" dirty="0">
              <a:solidFill>
                <a:srgbClr val="595959"/>
              </a:solidFill>
              <a:latin typeface="Arial"/>
              <a:ea typeface="Arial"/>
              <a:cs typeface="Arial"/>
              <a:sym typeface="Arial"/>
            </a:endParaRPr>
          </a:p>
        </p:txBody>
      </p:sp>
      <p:sp>
        <p:nvSpPr>
          <p:cNvPr id="1567" name="Google Shape;1567;p111"/>
          <p:cNvSpPr/>
          <p:nvPr/>
        </p:nvSpPr>
        <p:spPr>
          <a:xfrm>
            <a:off x="447368" y="1028733"/>
            <a:ext cx="9067800" cy="351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2" name="Rectangle 1">
            <a:extLst>
              <a:ext uri="{FF2B5EF4-FFF2-40B4-BE49-F238E27FC236}">
                <a16:creationId xmlns:a16="http://schemas.microsoft.com/office/drawing/2014/main" id="{DC6F555C-A34F-46D7-AACB-492693E5AB46}"/>
              </a:ext>
            </a:extLst>
          </p:cNvPr>
          <p:cNvSpPr/>
          <p:nvPr/>
        </p:nvSpPr>
        <p:spPr>
          <a:xfrm>
            <a:off x="562708" y="1028648"/>
            <a:ext cx="10846190" cy="2693045"/>
          </a:xfrm>
          <a:prstGeom prst="rect">
            <a:avLst/>
          </a:prstGeom>
        </p:spPr>
        <p:txBody>
          <a:bodyPr wrap="square">
            <a:spAutoFit/>
          </a:bodyPr>
          <a:lstStyle/>
          <a:p>
            <a:pPr marL="228600" indent="-228600" algn="just">
              <a:spcAft>
                <a:spcPts val="600"/>
              </a:spcAft>
            </a:pPr>
            <a:r>
              <a:rPr lang="en-GB" sz="2000" b="1" dirty="0">
                <a:solidFill>
                  <a:srgbClr val="C0504D"/>
                </a:solidFill>
                <a:latin typeface="Times New Roman" panose="02020603050405020304" pitchFamily="18" charset="0"/>
                <a:ea typeface="Times New Roman" panose="02020603050405020304" pitchFamily="18" charset="0"/>
                <a:cs typeface="Arial" panose="020B0604020202020204" pitchFamily="34" charset="0"/>
              </a:rPr>
              <a:t>Happy Flow/ New Inventory Reservation creation: </a:t>
            </a:r>
            <a:endParaRPr lang="en-IN" sz="2000" b="1" dirty="0">
              <a:solidFill>
                <a:srgbClr val="C0504D"/>
              </a:solidFill>
              <a:latin typeface="Times New Roman" panose="02020603050405020304" pitchFamily="18" charset="0"/>
              <a:ea typeface="Times New Roman" panose="02020603050405020304" pitchFamily="18" charset="0"/>
              <a:cs typeface="Arial" panose="020B0604020202020204" pitchFamily="34"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A user would open Inventory Reservations screen then click on Add new</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Inventory Reservation Create/ Edit screen would open</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err="1">
                <a:latin typeface="Arial" panose="020B0604020202020204" pitchFamily="34" charset="0"/>
                <a:ea typeface="Times New Roman" panose="02020603050405020304" pitchFamily="18" charset="0"/>
              </a:rPr>
              <a:t>IRKey</a:t>
            </a:r>
            <a:r>
              <a:rPr lang="en-GB" dirty="0">
                <a:latin typeface="Arial" panose="020B0604020202020204" pitchFamily="34" charset="0"/>
                <a:ea typeface="Times New Roman" panose="02020603050405020304" pitchFamily="18" charset="0"/>
              </a:rPr>
              <a:t> is a system generated document no against an entry</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User feels all the field correctly with start date and end date</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Details filling flow Warehouse -&gt; Reservation type -&gt; </a:t>
            </a:r>
            <a:r>
              <a:rPr lang="en-GB" dirty="0" err="1">
                <a:latin typeface="Arial" panose="020B0604020202020204" pitchFamily="34" charset="0"/>
                <a:ea typeface="Times New Roman" panose="02020603050405020304" pitchFamily="18" charset="0"/>
              </a:rPr>
              <a:t>Sku</a:t>
            </a:r>
            <a:r>
              <a:rPr lang="en-GB" dirty="0">
                <a:latin typeface="Arial" panose="020B0604020202020204" pitchFamily="34" charset="0"/>
                <a:ea typeface="Times New Roman" panose="02020603050405020304" pitchFamily="18" charset="0"/>
              </a:rPr>
              <a:t> selected -&gt; Save.</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Post filling data user need to click on ‘confirm’ to create the record</a:t>
            </a:r>
            <a:endParaRPr lang="en-IN" dirty="0">
              <a:latin typeface="Times New Roman" panose="02020603050405020304" pitchFamily="18" charset="0"/>
              <a:ea typeface="Times New Roman" panose="02020603050405020304" pitchFamily="18" charset="0"/>
            </a:endParaRPr>
          </a:p>
          <a:p>
            <a:pPr marL="342900" lvl="0" indent="-342900">
              <a:spcAft>
                <a:spcPts val="0"/>
              </a:spcAft>
              <a:buFont typeface="Symbol" panose="05050102010706020507" pitchFamily="18" charset="2"/>
              <a:buChar char=""/>
            </a:pPr>
            <a:r>
              <a:rPr lang="en-GB" dirty="0">
                <a:latin typeface="Arial" panose="020B0604020202020204" pitchFamily="34" charset="0"/>
                <a:ea typeface="Times New Roman" panose="02020603050405020304" pitchFamily="18" charset="0"/>
              </a:rPr>
              <a:t>As per the start date &amp; End the </a:t>
            </a:r>
            <a:r>
              <a:rPr lang="en-GB" dirty="0" err="1">
                <a:latin typeface="Arial" panose="020B0604020202020204" pitchFamily="34" charset="0"/>
                <a:ea typeface="Times New Roman" panose="02020603050405020304" pitchFamily="18" charset="0"/>
              </a:rPr>
              <a:t>IRKey</a:t>
            </a:r>
            <a:r>
              <a:rPr lang="en-GB" dirty="0">
                <a:latin typeface="Arial" panose="020B0604020202020204" pitchFamily="34" charset="0"/>
                <a:ea typeface="Times New Roman" panose="02020603050405020304" pitchFamily="18" charset="0"/>
              </a:rPr>
              <a:t> would get active or inactive based on blocked inventory and available inventory.</a:t>
            </a:r>
            <a:endParaRPr lang="en-IN"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4"/>
        <p:cNvGrpSpPr/>
        <p:nvPr/>
      </p:nvGrpSpPr>
      <p:grpSpPr>
        <a:xfrm>
          <a:off x="0" y="0"/>
          <a:ext cx="0" cy="0"/>
          <a:chOff x="0" y="0"/>
          <a:chExt cx="0" cy="0"/>
        </a:xfrm>
      </p:grpSpPr>
      <p:sp>
        <p:nvSpPr>
          <p:cNvPr id="1565" name="Google Shape;1565;p111"/>
          <p:cNvSpPr/>
          <p:nvPr/>
        </p:nvSpPr>
        <p:spPr>
          <a:xfrm>
            <a:off x="0" y="260648"/>
            <a:ext cx="167700" cy="768000"/>
          </a:xfrm>
          <a:prstGeom prst="rect">
            <a:avLst/>
          </a:prstGeom>
          <a:solidFill>
            <a:srgbClr val="323F4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222A35"/>
              </a:solidFill>
              <a:latin typeface="Arial"/>
              <a:ea typeface="Arial"/>
              <a:cs typeface="Arial"/>
              <a:sym typeface="Arial"/>
            </a:endParaRPr>
          </a:p>
        </p:txBody>
      </p:sp>
      <p:sp>
        <p:nvSpPr>
          <p:cNvPr id="1566" name="Google Shape;1566;p111"/>
          <p:cNvSpPr txBox="1"/>
          <p:nvPr/>
        </p:nvSpPr>
        <p:spPr>
          <a:xfrm>
            <a:off x="167680" y="358418"/>
            <a:ext cx="11645700" cy="523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dirty="0">
                <a:solidFill>
                  <a:srgbClr val="00B0F0"/>
                </a:solidFill>
                <a:latin typeface="Arial"/>
                <a:ea typeface="Arial"/>
                <a:cs typeface="Arial"/>
                <a:sym typeface="Arial"/>
              </a:rPr>
              <a:t>Suggested Change post Discussion</a:t>
            </a:r>
            <a:endParaRPr sz="2800" b="1" dirty="0">
              <a:solidFill>
                <a:srgbClr val="595959"/>
              </a:solidFill>
              <a:latin typeface="Arial"/>
              <a:ea typeface="Arial"/>
              <a:cs typeface="Arial"/>
              <a:sym typeface="Arial"/>
            </a:endParaRPr>
          </a:p>
        </p:txBody>
      </p:sp>
      <p:sp>
        <p:nvSpPr>
          <p:cNvPr id="1567" name="Google Shape;1567;p111"/>
          <p:cNvSpPr/>
          <p:nvPr/>
        </p:nvSpPr>
        <p:spPr>
          <a:xfrm>
            <a:off x="447368" y="1028733"/>
            <a:ext cx="9067800" cy="3517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2" name="Rectangle 1">
            <a:extLst>
              <a:ext uri="{FF2B5EF4-FFF2-40B4-BE49-F238E27FC236}">
                <a16:creationId xmlns:a16="http://schemas.microsoft.com/office/drawing/2014/main" id="{DC6F555C-A34F-46D7-AACB-492693E5AB46}"/>
              </a:ext>
            </a:extLst>
          </p:cNvPr>
          <p:cNvSpPr/>
          <p:nvPr/>
        </p:nvSpPr>
        <p:spPr>
          <a:xfrm>
            <a:off x="562708" y="1028648"/>
            <a:ext cx="10846190" cy="3139321"/>
          </a:xfrm>
          <a:prstGeom prst="rect">
            <a:avLst/>
          </a:prstGeom>
        </p:spPr>
        <p:txBody>
          <a:bodyPr wrap="square">
            <a:spAutoFit/>
          </a:bodyPr>
          <a:lstStyle/>
          <a:p>
            <a:pPr marL="285750" lvl="0" indent="-285750">
              <a:spcAft>
                <a:spcPts val="0"/>
              </a:spcAft>
              <a:buFont typeface="Arial" panose="020B0604020202020204" pitchFamily="34" charset="0"/>
              <a:buChar char="•"/>
            </a:pPr>
            <a:r>
              <a:rPr lang="en-GB" dirty="0">
                <a:latin typeface="Arial" panose="020B0604020202020204" pitchFamily="34" charset="0"/>
                <a:ea typeface="Times New Roman" panose="02020603050405020304" pitchFamily="18" charset="0"/>
              </a:rPr>
              <a:t>Safety stock level – There would be check box for enabling safety stock. If safety stock is enabled, whenever the reserved inventory would reduce to the safe stock level, then if there is common pool inventory then the reservation would get replenish.</a:t>
            </a:r>
          </a:p>
          <a:p>
            <a:pPr marL="285750" lvl="0" indent="-285750">
              <a:spcAft>
                <a:spcPts val="0"/>
              </a:spcAft>
              <a:buFont typeface="Arial" panose="020B0604020202020204" pitchFamily="34" charset="0"/>
              <a:buChar char="•"/>
            </a:pPr>
            <a:endParaRPr lang="en-GB" dirty="0">
              <a:latin typeface="Arial" panose="020B0604020202020204" pitchFamily="34" charset="0"/>
              <a:ea typeface="Times New Roman" panose="02020603050405020304" pitchFamily="18" charset="0"/>
            </a:endParaRPr>
          </a:p>
          <a:p>
            <a:pPr marL="285750" lvl="0" indent="-285750">
              <a:spcAft>
                <a:spcPts val="0"/>
              </a:spcAft>
              <a:buFont typeface="Arial" panose="020B0604020202020204" pitchFamily="34" charset="0"/>
              <a:buChar char="•"/>
            </a:pPr>
            <a:r>
              <a:rPr lang="en-GB" dirty="0">
                <a:latin typeface="Arial" panose="020B0604020202020204" pitchFamily="34" charset="0"/>
                <a:ea typeface="Times New Roman" panose="02020603050405020304" pitchFamily="18" charset="0"/>
              </a:rPr>
              <a:t>Inventory pushed to customer group would be common poll+ reserved quantity. But actual reserved inventory  would get allocate against the order from Customer group and for confirmed portion of order, user need to manually decide how much quantity to fulfil and accordingly need to update the reserved quantity.</a:t>
            </a:r>
          </a:p>
          <a:p>
            <a:pPr marL="285750" lvl="0" indent="-285750">
              <a:spcAft>
                <a:spcPts val="0"/>
              </a:spcAft>
              <a:buFont typeface="Arial" panose="020B0604020202020204" pitchFamily="34" charset="0"/>
              <a:buChar char="•"/>
            </a:pPr>
            <a:endParaRPr lang="en-GB" dirty="0">
              <a:latin typeface="Arial" panose="020B0604020202020204" pitchFamily="34" charset="0"/>
              <a:ea typeface="Times New Roman" panose="02020603050405020304" pitchFamily="18" charset="0"/>
            </a:endParaRPr>
          </a:p>
          <a:p>
            <a:pPr marL="285750" lvl="0" indent="-285750">
              <a:spcAft>
                <a:spcPts val="0"/>
              </a:spcAft>
              <a:buFont typeface="Arial" panose="020B0604020202020204" pitchFamily="34" charset="0"/>
              <a:buChar char="•"/>
            </a:pPr>
            <a:r>
              <a:rPr lang="en-GB" dirty="0">
                <a:latin typeface="Arial" panose="020B0604020202020204" pitchFamily="34" charset="0"/>
                <a:ea typeface="Times New Roman" panose="02020603050405020304" pitchFamily="18" charset="0"/>
              </a:rPr>
              <a:t> </a:t>
            </a:r>
          </a:p>
          <a:p>
            <a:pPr marL="285750" lvl="0" indent="-285750">
              <a:spcAft>
                <a:spcPts val="0"/>
              </a:spcAft>
              <a:buFont typeface="Arial" panose="020B0604020202020204" pitchFamily="34" charset="0"/>
              <a:buChar char="•"/>
            </a:pPr>
            <a:endParaRPr lang="en-IN"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0027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thank you">
            <a:extLst>
              <a:ext uri="{FF2B5EF4-FFF2-40B4-BE49-F238E27FC236}">
                <a16:creationId xmlns:a16="http://schemas.microsoft.com/office/drawing/2014/main" id="{9B90DF07-C2F5-4168-9EAC-21C928FB2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1714500"/>
            <a:ext cx="85725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9228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3282</TotalTime>
  <Words>399</Words>
  <Application>Microsoft Office PowerPoint</Application>
  <PresentationFormat>Widescreen</PresentationFormat>
  <Paragraphs>33</Paragraphs>
  <Slides>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Calibri Light</vt:lpstr>
      <vt:lpstr>Noto Sans Symbols</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Ritesh Tomar</dc:creator>
  <cp:lastModifiedBy>Priyankar Pinaki Samal</cp:lastModifiedBy>
  <cp:revision>91</cp:revision>
  <dcterms:created xsi:type="dcterms:W3CDTF">2019-07-02T09:47:35Z</dcterms:created>
  <dcterms:modified xsi:type="dcterms:W3CDTF">2020-03-27T14:52:39Z</dcterms:modified>
</cp:coreProperties>
</file>